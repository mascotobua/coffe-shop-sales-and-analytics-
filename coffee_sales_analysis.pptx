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1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2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3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4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3A2A20"/>
                </a:solidFill>
                <a:latin typeface="Cambria"/>
              </a:defRPr>
            </a:pPr>
            <a:r>
              <a:rPr sz="1400" b="0" i="0" u="none" strike="noStrike">
                <a:solidFill>
                  <a:srgbClr val="3A2A20"/>
                </a:solidFill>
                <a:latin typeface="Cambria"/>
              </a:rPr>
              <a:t>Revenue by Coffee Type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 ($)</c:v>
                </c:pt>
              </c:strCache>
            </c:strRef>
          </c:tx>
          <c:spPr>
            <a:solidFill>
              <a:srgbClr val="B85042"/>
            </a:solidFill>
            <a:effectLst/>
          </c:spPr>
          <c:invertIfNegative val="0"/>
          <c:dLbls>
            <c:numFmt formatCode="$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3A2A2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Sheet1!$A$2:$A$9</c:f>
              <c:multiLvlStrCache>
                <c:ptCount val="8"/>
                <c:lvl>
                  <c:pt idx="0">
                    <c:v>Latte</c:v>
                  </c:pt>
                  <c:pt idx="1">
                    <c:v>Americano with Milk</c:v>
                  </c:pt>
                  <c:pt idx="2">
                    <c:v>Cappuccino</c:v>
                  </c:pt>
                  <c:pt idx="3">
                    <c:v>Americano</c:v>
                  </c:pt>
                  <c:pt idx="4">
                    <c:v>Hot Chocolate</c:v>
                  </c:pt>
                  <c:pt idx="5">
                    <c:v>Cocoa</c:v>
                  </c:pt>
                  <c:pt idx="6">
                    <c:v>Cortado</c:v>
                  </c:pt>
                  <c:pt idx="7">
                    <c:v>Espresso</c:v>
                  </c:pt>
                </c:lvl>
              </c:multiLvlStrCache>
            </c:multiLvl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26875.3</c:v>
                </c:pt>
                <c:pt idx="1">
                  <c:v>24751.12</c:v>
                </c:pt>
                <c:pt idx="2">
                  <c:v>17439.14</c:v>
                </c:pt>
                <c:pt idx="3">
                  <c:v>14650.26</c:v>
                </c:pt>
                <c:pt idx="4">
                  <c:v>9933.46</c:v>
                </c:pt>
                <c:pt idx="5">
                  <c:v>8521.16</c:v>
                </c:pt>
                <c:pt idx="6">
                  <c:v>7384.86</c:v>
                </c:pt>
                <c:pt idx="7">
                  <c:v>2690.28</c:v>
                </c:pt>
              </c:numCache>
            </c:numRef>
          </c:val>
        </c:ser>
        <c:dLbls>
          <c:numFmt formatCode="$#,##0" sourceLinked="0"/>
          <c:txPr>
            <a:bodyPr/>
            <a:lstStyle/>
            <a:p>
              <a:pPr>
                <a:defRPr b="0" i="0" strike="noStrike" sz="900" u="none">
                  <a:solidFill>
                    <a:srgbClr val="3A2A2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3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3A2A2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Transactions</c:v>
                </c:pt>
              </c:strCache>
            </c:strRef>
          </c:tx>
          <c:spPr>
            <a:solidFill>
              <a:srgbClr val="B85042"/>
            </a:solidFill>
            <a:ln w="38100" cap="flat">
              <a:solidFill>
                <a:srgbClr val="B85042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B85042"/>
              </a:solidFill>
              <a:ln w="9525" cap="flat">
                <a:solidFill>
                  <a:srgbClr val="B85042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Sheet1!$A$2:$A$13</c:f>
              <c:multiLvlStrCache>
                <c:ptCount val="12"/>
                <c:lvl>
                  <c:pt idx="0">
                    <c:v>Jan</c:v>
                  </c:pt>
                  <c:pt idx="1">
                    <c:v>Feb</c:v>
                  </c:pt>
                  <c:pt idx="2">
                    <c:v>Mar</c:v>
                  </c:pt>
                  <c:pt idx="3">
                    <c:v>Apr</c:v>
                  </c:pt>
                  <c:pt idx="4">
                    <c:v>May</c:v>
                  </c:pt>
                  <c:pt idx="5">
                    <c:v>Jun</c:v>
                  </c:pt>
                  <c:pt idx="6">
                    <c:v>Jul</c:v>
                  </c:pt>
                  <c:pt idx="7">
                    <c:v>Aug</c:v>
                  </c:pt>
                  <c:pt idx="8">
                    <c:v>Sep</c:v>
                  </c:pt>
                  <c:pt idx="9">
                    <c:v>Oct</c:v>
                  </c:pt>
                  <c:pt idx="10">
                    <c:v>Nov</c:v>
                  </c:pt>
                  <c:pt idx="11">
                    <c:v>Dec</c:v>
                  </c:pt>
                </c:lvl>
              </c:multiLvlStrCache>
            </c:multiLvl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201</c:v>
                </c:pt>
                <c:pt idx="1">
                  <c:v>423</c:v>
                </c:pt>
                <c:pt idx="2">
                  <c:v>494</c:v>
                </c:pt>
                <c:pt idx="3">
                  <c:v>168</c:v>
                </c:pt>
                <c:pt idx="4">
                  <c:v>241</c:v>
                </c:pt>
                <c:pt idx="5">
                  <c:v>223</c:v>
                </c:pt>
                <c:pt idx="6">
                  <c:v>237</c:v>
                </c:pt>
                <c:pt idx="7">
                  <c:v>272</c:v>
                </c:pt>
                <c:pt idx="8">
                  <c:v>344</c:v>
                </c:pt>
                <c:pt idx="9">
                  <c:v>426</c:v>
                </c:pt>
                <c:pt idx="10">
                  <c:v>259</c:v>
                </c:pt>
                <c:pt idx="11">
                  <c:v>259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3A2A2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7DFC6"/>
              </a:solidFill>
              <a:prstDash val="solid"/>
              <a:round/>
            </a:ln>
          </c:spPr>
        </c:majorGridlines>
        <c:numFmt formatCode="#,##0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7A6A5D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Transactions</c:v>
                </c:pt>
              </c:strCache>
            </c:strRef>
          </c:tx>
          <c:spPr>
            <a:solidFill>
              <a:srgbClr val="B85042">
                <a:alpha val="100000"/>
              </a:srgbClr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3A2A2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B85042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B85042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B85042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B85042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B85042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8B9D83"/>
              </a:solidFill>
              <a:effectLst/>
            </c:spPr>
          </c:dPt>
          <c:dPt>
            <c:idx val="6"/>
            <c:invertIfNegative val="0"/>
            <c:bubble3D val="0"/>
            <c:spPr>
              <a:solidFill>
                <a:srgbClr val="8B9D83"/>
              </a:solidFill>
              <a:effectLst/>
            </c:spPr>
          </c:dPt>
          <c:cat>
            <c:multiLvlStrRef>
              <c:f>Sheet1!$A$2:$A$8</c:f>
              <c:multiLvlStrCache>
                <c:ptCount val="7"/>
                <c:lvl>
                  <c:pt idx="0">
                    <c:v>Mon</c:v>
                  </c:pt>
                  <c:pt idx="1">
                    <c:v>Tue</c:v>
                  </c:pt>
                  <c:pt idx="2">
                    <c:v>Wed</c:v>
                  </c:pt>
                  <c:pt idx="3">
                    <c:v>Thu</c:v>
                  </c:pt>
                  <c:pt idx="4">
                    <c:v>Fri</c:v>
                  </c:pt>
                  <c:pt idx="5">
                    <c:v>Sat</c:v>
                  </c:pt>
                  <c:pt idx="6">
                    <c:v>Sun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544</c:v>
                </c:pt>
                <c:pt idx="1">
                  <c:v>572</c:v>
                </c:pt>
                <c:pt idx="2">
                  <c:v>500</c:v>
                </c:pt>
                <c:pt idx="3">
                  <c:v>510</c:v>
                </c:pt>
                <c:pt idx="4">
                  <c:v>532</c:v>
                </c:pt>
                <c:pt idx="5">
                  <c:v>470</c:v>
                </c:pt>
                <c:pt idx="6">
                  <c:v>419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3A2A2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A2A2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Transactions</c:v>
                </c:pt>
              </c:strCache>
            </c:strRef>
          </c:tx>
          <c:spPr>
            <a:solidFill>
              <a:srgbClr val="B85042"/>
            </a:solidFill>
            <a:ln w="38100" cap="flat">
              <a:solidFill>
                <a:srgbClr val="B85042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B85042"/>
              </a:solidFill>
              <a:ln w="9525" cap="flat">
                <a:solidFill>
                  <a:srgbClr val="B85042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Sheet1!$A$2:$A$18</c:f>
              <c:multiLvlStrCache>
                <c:ptCount val="17"/>
                <c:lvl>
                  <c:pt idx="0">
                    <c:v>6</c:v>
                  </c:pt>
                  <c:pt idx="1">
                    <c:v>7</c:v>
                  </c:pt>
                  <c:pt idx="2">
                    <c:v>8</c:v>
                  </c:pt>
                  <c:pt idx="3">
                    <c:v>9</c:v>
                  </c:pt>
                  <c:pt idx="4">
                    <c:v>10</c:v>
                  </c:pt>
                  <c:pt idx="5">
                    <c:v>11</c:v>
                  </c:pt>
                  <c:pt idx="6">
                    <c:v>12</c:v>
                  </c:pt>
                  <c:pt idx="7">
                    <c:v>13</c:v>
                  </c:pt>
                  <c:pt idx="8">
                    <c:v>14</c:v>
                  </c:pt>
                  <c:pt idx="9">
                    <c:v>15</c:v>
                  </c:pt>
                  <c:pt idx="10">
                    <c:v>16</c:v>
                  </c:pt>
                  <c:pt idx="11">
                    <c:v>17</c:v>
                  </c:pt>
                  <c:pt idx="12">
                    <c:v>18</c:v>
                  </c:pt>
                  <c:pt idx="13">
                    <c:v>19</c:v>
                  </c:pt>
                  <c:pt idx="14">
                    <c:v>20</c:v>
                  </c:pt>
                  <c:pt idx="15">
                    <c:v>21</c:v>
                  </c:pt>
                  <c:pt idx="16">
                    <c:v>22</c:v>
                  </c:pt>
                </c:lvl>
              </c:multiLvlStrCache>
            </c:multiLvlStrRef>
          </c:cat>
          <c:val>
            <c:numRef>
              <c:f>Sheet1!$B$2:$B$18</c:f>
              <c:numCache>
                <c:formatCode>General</c:formatCode>
                <c:ptCount val="17"/>
                <c:pt idx="0">
                  <c:v>5</c:v>
                </c:pt>
                <c:pt idx="1">
                  <c:v>88</c:v>
                </c:pt>
                <c:pt idx="2">
                  <c:v>235</c:v>
                </c:pt>
                <c:pt idx="3">
                  <c:v>242</c:v>
                </c:pt>
                <c:pt idx="4">
                  <c:v>328</c:v>
                </c:pt>
                <c:pt idx="5">
                  <c:v>283</c:v>
                </c:pt>
                <c:pt idx="6">
                  <c:v>241</c:v>
                </c:pt>
                <c:pt idx="7">
                  <c:v>225</c:v>
                </c:pt>
                <c:pt idx="8">
                  <c:v>225</c:v>
                </c:pt>
                <c:pt idx="9">
                  <c:v>236</c:v>
                </c:pt>
                <c:pt idx="10">
                  <c:v>278</c:v>
                </c:pt>
                <c:pt idx="11">
                  <c:v>237</c:v>
                </c:pt>
                <c:pt idx="12">
                  <c:v>218</c:v>
                </c:pt>
                <c:pt idx="13">
                  <c:v>229</c:v>
                </c:pt>
                <c:pt idx="14">
                  <c:v>169</c:v>
                </c:pt>
                <c:pt idx="15">
                  <c:v>195</c:v>
                </c:pt>
                <c:pt idx="16">
                  <c:v>113</c:v>
                </c:pt>
              </c:numCache>
            </c:numRef>
          </c:val>
          <c:smooth val="1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100" b="0" i="0" u="none" strike="noStrike">
                    <a:solidFill>
                      <a:srgbClr val="7A6A5D"/>
                    </a:solidFill>
                    <a:latin typeface="Arial"/>
                  </a:defRPr>
                </a:pPr>
                <a:r>
                  <a:rPr sz="1100" b="0" i="0" u="none" strike="noStrike">
                    <a:solidFill>
                      <a:srgbClr val="7A6A5D"/>
                    </a:solidFill>
                    <a:latin typeface="Arial"/>
                  </a:rPr>
                  <a:t>Hour of Day (24h)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3A2A2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7DFC6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7A6A5D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B1B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235440" y="-1188720"/>
            <a:ext cx="4754880" cy="4754880"/>
          </a:xfrm>
          <a:prstGeom prst="ellipse">
            <a:avLst/>
          </a:prstGeom>
          <a:solidFill>
            <a:srgbClr val="3D2A1D"/>
          </a:solidFill>
          <a:ln/>
        </p:spPr>
      </p:sp>
      <p:sp>
        <p:nvSpPr>
          <p:cNvPr id="3" name="Shape 1"/>
          <p:cNvSpPr/>
          <p:nvPr/>
        </p:nvSpPr>
        <p:spPr>
          <a:xfrm>
            <a:off x="10332720" y="-91440"/>
            <a:ext cx="2560320" cy="2560320"/>
          </a:xfrm>
          <a:prstGeom prst="ellipse">
            <a:avLst/>
          </a:prstGeom>
          <a:ln w="25400">
            <a:solidFill>
              <a:srgbClr val="B8504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1463040" y="4206240"/>
            <a:ext cx="3840480" cy="3840480"/>
          </a:xfrm>
          <a:prstGeom prst="ellipse">
            <a:avLst/>
          </a:prstGeom>
          <a:ln w="19050">
            <a:solidFill>
              <a:srgbClr val="8B9D83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233172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D8A0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COFFEE SHOP SALES ANALYSIS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2697480"/>
            <a:ext cx="9601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Year in Transactions</a:t>
            </a:r>
            <a:endParaRPr lang="en-US" sz="46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370332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D8C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activity, timing patterns, and product performance across 3,547 recorded transactions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822960" y="4434840"/>
            <a:ext cx="1280160" cy="0"/>
          </a:xfrm>
          <a:prstGeom prst="line">
            <a:avLst/>
          </a:prstGeom>
          <a:noFill/>
          <a:ln w="38100">
            <a:solidFill>
              <a:srgbClr val="B85042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EF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9601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3A2A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Business at a Glance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3716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7A6A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Twelve months of point-of-sale data, fully paid by card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148840"/>
            <a:ext cx="2651760" cy="2743200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 w="12700">
            <a:solidFill>
              <a:srgbClr val="E7DFC6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685800" y="2971800"/>
            <a:ext cx="2377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B850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3,547</a:t>
            </a:r>
            <a:endParaRPr lang="en-US" sz="26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374904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3A2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TRANSACTIONS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685800" y="411480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7A6A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 payments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520440" y="2148840"/>
            <a:ext cx="2651760" cy="2743200"/>
          </a:xfrm>
          <a:prstGeom prst="roundRect">
            <a:avLst>
              <a:gd name="adj" fmla="val 4138"/>
            </a:avLst>
          </a:prstGeom>
          <a:solidFill>
            <a:srgbClr val="B85042"/>
          </a:solidFill>
          <a:ln w="12700">
            <a:solidFill>
              <a:srgbClr val="E7DFC6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3657600" y="2971800"/>
            <a:ext cx="2377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$112,246</a:t>
            </a:r>
            <a:endParaRPr lang="en-US" sz="2600" dirty="0"/>
          </a:p>
        </p:txBody>
      </p:sp>
      <p:sp>
        <p:nvSpPr>
          <p:cNvPr id="11" name="Text 9"/>
          <p:cNvSpPr txBox="1"/>
          <p:nvPr/>
        </p:nvSpPr>
        <p:spPr>
          <a:xfrm>
            <a:off x="3657600" y="374904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5E3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REVENUE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3657600" y="411480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EAD9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year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492240" y="2148840"/>
            <a:ext cx="2651760" cy="2743200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 w="12700">
            <a:solidFill>
              <a:srgbClr val="E7DFC6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6629400" y="2971800"/>
            <a:ext cx="2377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B850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$31.65</a:t>
            </a:r>
            <a:endParaRPr lang="en-US" sz="2600" dirty="0"/>
          </a:p>
        </p:txBody>
      </p:sp>
      <p:sp>
        <p:nvSpPr>
          <p:cNvPr id="15" name="Text 13"/>
          <p:cNvSpPr txBox="1"/>
          <p:nvPr/>
        </p:nvSpPr>
        <p:spPr>
          <a:xfrm>
            <a:off x="6629400" y="374904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3A2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AVG. TRANSACTION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6629400" y="411480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7A6A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cup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9464040" y="2148840"/>
            <a:ext cx="2651760" cy="2743200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 w="12700">
            <a:solidFill>
              <a:srgbClr val="E7DFC6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18" name="Text 16"/>
          <p:cNvSpPr txBox="1"/>
          <p:nvPr/>
        </p:nvSpPr>
        <p:spPr>
          <a:xfrm>
            <a:off x="9601200" y="2971800"/>
            <a:ext cx="2377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B850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$18.12 – $38.70</a:t>
            </a:r>
            <a:endParaRPr lang="en-US" sz="2600" dirty="0"/>
          </a:p>
        </p:txBody>
      </p:sp>
      <p:sp>
        <p:nvSpPr>
          <p:cNvPr id="19" name="Text 17"/>
          <p:cNvSpPr txBox="1"/>
          <p:nvPr/>
        </p:nvSpPr>
        <p:spPr>
          <a:xfrm>
            <a:off x="9601200" y="374904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3A2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 RANGE</a:t>
            </a:r>
            <a:endParaRPr lang="en-US" sz="1100" dirty="0"/>
          </a:p>
        </p:txBody>
      </p:sp>
      <p:sp>
        <p:nvSpPr>
          <p:cNvPr id="20" name="Text 18"/>
          <p:cNvSpPr txBox="1"/>
          <p:nvPr/>
        </p:nvSpPr>
        <p:spPr>
          <a:xfrm>
            <a:off x="9601200" y="411480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7A6A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 to max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548640" y="521208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A6A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recorded sale is a single-item purchase — one coffee per transaction, no basket effect — and every transaction was paid by card.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11155680" y="644652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A6A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10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EF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MIX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9601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3A2A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Best Seller Depends on the Metric</a:t>
            </a:r>
            <a:endParaRPr lang="en-US" sz="32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600200"/>
          <a:ext cx="6035040" cy="47548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6903720" y="1600200"/>
            <a:ext cx="4709160" cy="2240280"/>
          </a:xfrm>
          <a:prstGeom prst="roundRect">
            <a:avLst>
              <a:gd name="adj" fmla="val 4082"/>
            </a:avLst>
          </a:prstGeom>
          <a:solidFill>
            <a:srgbClr val="E7DFC6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7178040" y="1783080"/>
            <a:ext cx="4160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VOLUME vs. REVENUE</a:t>
            </a:r>
            <a:endParaRPr lang="en-US" sz="1200" dirty="0"/>
          </a:p>
        </p:txBody>
      </p:sp>
      <p:sp>
        <p:nvSpPr>
          <p:cNvPr id="7" name="Text 4"/>
          <p:cNvSpPr txBox="1"/>
          <p:nvPr/>
        </p:nvSpPr>
        <p:spPr>
          <a:xfrm>
            <a:off x="7178040" y="2194560"/>
            <a:ext cx="41605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3A2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Americano with Milk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3A2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sells the most cups (809), but </a:t>
            </a:r>
            <a:pPr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3A2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Latte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3A2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earns more revenue ($26,875 vs $24,751) thanks to a $4.91 higher price per cup.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6903720" y="4069080"/>
            <a:ext cx="470916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7DFC6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7178040" y="4251960"/>
            <a:ext cx="4160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PRICING TIERS</a:t>
            </a:r>
            <a:endParaRPr lang="en-US" sz="1200" dirty="0"/>
          </a:p>
        </p:txBody>
      </p:sp>
      <p:sp>
        <p:nvSpPr>
          <p:cNvPr id="10" name="Text 7"/>
          <p:cNvSpPr txBox="1"/>
          <p:nvPr/>
        </p:nvSpPr>
        <p:spPr>
          <a:xfrm>
            <a:off x="7178040" y="466344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B9D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$35–36 tier</a:t>
            </a:r>
            <a:endParaRPr lang="en-US" sz="1200" dirty="0"/>
          </a:p>
        </p:txBody>
      </p:sp>
      <p:sp>
        <p:nvSpPr>
          <p:cNvPr id="11" name="Text 8"/>
          <p:cNvSpPr txBox="1"/>
          <p:nvPr/>
        </p:nvSpPr>
        <p:spPr>
          <a:xfrm>
            <a:off x="8595360" y="466344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A2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Latte, Cappuccino, Hot Chocolate, Cocoa</a:t>
            </a:r>
            <a:endParaRPr lang="en-US" sz="1150" dirty="0"/>
          </a:p>
        </p:txBody>
      </p:sp>
      <p:sp>
        <p:nvSpPr>
          <p:cNvPr id="12" name="Text 9"/>
          <p:cNvSpPr txBox="1"/>
          <p:nvPr/>
        </p:nvSpPr>
        <p:spPr>
          <a:xfrm>
            <a:off x="7178040" y="521208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B9D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$26–31 tier</a:t>
            </a:r>
            <a:endParaRPr lang="en-US" sz="1200" dirty="0"/>
          </a:p>
        </p:txBody>
      </p:sp>
      <p:sp>
        <p:nvSpPr>
          <p:cNvPr id="13" name="Text 10"/>
          <p:cNvSpPr txBox="1"/>
          <p:nvPr/>
        </p:nvSpPr>
        <p:spPr>
          <a:xfrm>
            <a:off x="8595360" y="521208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A2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Americano, Americano w/ Milk, Cortado</a:t>
            </a:r>
            <a:endParaRPr lang="en-US" sz="1150" dirty="0"/>
          </a:p>
        </p:txBody>
      </p:sp>
      <p:sp>
        <p:nvSpPr>
          <p:cNvPr id="14" name="Text 11"/>
          <p:cNvSpPr txBox="1"/>
          <p:nvPr/>
        </p:nvSpPr>
        <p:spPr>
          <a:xfrm>
            <a:off x="7178040" y="576072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B9D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$20.85</a:t>
            </a:r>
            <a:endParaRPr lang="en-US" sz="1200" dirty="0"/>
          </a:p>
        </p:txBody>
      </p:sp>
      <p:sp>
        <p:nvSpPr>
          <p:cNvPr id="15" name="Text 12"/>
          <p:cNvSpPr txBox="1"/>
          <p:nvPr/>
        </p:nvSpPr>
        <p:spPr>
          <a:xfrm>
            <a:off x="8595360" y="576072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A2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Espresso — lowest price AND lowest volume</a:t>
            </a:r>
            <a:endParaRPr lang="en-US" sz="1150" dirty="0"/>
          </a:p>
        </p:txBody>
      </p:sp>
      <p:sp>
        <p:nvSpPr>
          <p:cNvPr id="16" name="Text 13"/>
          <p:cNvSpPr txBox="1"/>
          <p:nvPr/>
        </p:nvSpPr>
        <p:spPr>
          <a:xfrm>
            <a:off x="11155680" y="644652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A6A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10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EF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SEASONALITY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9601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3A2A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Sharp Spring Surge, Then a Steady Climb</a:t>
            </a:r>
            <a:endParaRPr lang="en-US" sz="32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600200"/>
          <a:ext cx="11064240" cy="40233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 txBox="1"/>
          <p:nvPr/>
        </p:nvSpPr>
        <p:spPr>
          <a:xfrm>
            <a:off x="2788920" y="169164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 peak: 494</a:t>
            </a:r>
            <a:endParaRPr lang="en-US" sz="1100" dirty="0"/>
          </a:p>
        </p:txBody>
      </p:sp>
      <p:sp>
        <p:nvSpPr>
          <p:cNvPr id="6" name="Text 3"/>
          <p:cNvSpPr txBox="1"/>
          <p:nvPr/>
        </p:nvSpPr>
        <p:spPr>
          <a:xfrm>
            <a:off x="3291840" y="452628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B9D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 low: 168</a:t>
            </a:r>
            <a:endParaRPr lang="en-US" sz="1100" dirty="0"/>
          </a:p>
        </p:txBody>
      </p:sp>
      <p:sp>
        <p:nvSpPr>
          <p:cNvPr id="7" name="Text 4"/>
          <p:cNvSpPr txBox="1"/>
          <p:nvPr/>
        </p:nvSpPr>
        <p:spPr>
          <a:xfrm>
            <a:off x="8229600" y="237744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Oct peak: 426</a:t>
            </a:r>
            <a:endParaRPr lang="en-US" sz="110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576072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A6A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March and February are the year's two busiest months, bookending a quiet holiday stretch — nearly a 3x swing between March's peak and April's trough.</a:t>
            </a:r>
            <a:endParaRPr lang="en-US" sz="1300" dirty="0"/>
          </a:p>
        </p:txBody>
      </p:sp>
      <p:sp>
        <p:nvSpPr>
          <p:cNvPr id="9" name="Text 6"/>
          <p:cNvSpPr txBox="1"/>
          <p:nvPr/>
        </p:nvSpPr>
        <p:spPr>
          <a:xfrm>
            <a:off x="11155680" y="644652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A6A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10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EF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WEEKLY RHYTHM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9601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3A2A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Weekdays Outsell Weekends, 3 to 1</a:t>
            </a:r>
            <a:endParaRPr lang="en-US" sz="32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600200"/>
          <a:ext cx="6858000" cy="44805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7680960" y="1737360"/>
            <a:ext cx="3931920" cy="4343400"/>
          </a:xfrm>
          <a:prstGeom prst="roundRect">
            <a:avLst>
              <a:gd name="adj" fmla="val 2326"/>
            </a:avLst>
          </a:prstGeom>
          <a:solidFill>
            <a:srgbClr val="2B1B12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7955280" y="201168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D8A0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WEEKDAY vs WEEKEND</a:t>
            </a:r>
            <a:endParaRPr lang="en-US" sz="1200" dirty="0"/>
          </a:p>
        </p:txBody>
      </p:sp>
      <p:sp>
        <p:nvSpPr>
          <p:cNvPr id="7" name="Text 4"/>
          <p:cNvSpPr txBox="1"/>
          <p:nvPr/>
        </p:nvSpPr>
        <p:spPr>
          <a:xfrm>
            <a:off x="7955280" y="2423160"/>
            <a:ext cx="3383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2,658</a:t>
            </a:r>
            <a:endParaRPr lang="en-US" sz="3400" dirty="0"/>
          </a:p>
        </p:txBody>
      </p:sp>
      <p:sp>
        <p:nvSpPr>
          <p:cNvPr id="8" name="Text 5"/>
          <p:cNvSpPr txBox="1"/>
          <p:nvPr/>
        </p:nvSpPr>
        <p:spPr>
          <a:xfrm>
            <a:off x="7955280" y="306324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8C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Mon–Fri transactions</a:t>
            </a:r>
            <a:endParaRPr lang="en-US" sz="1200" dirty="0"/>
          </a:p>
        </p:txBody>
      </p:sp>
      <p:sp>
        <p:nvSpPr>
          <p:cNvPr id="9" name="Text 6"/>
          <p:cNvSpPr txBox="1"/>
          <p:nvPr/>
        </p:nvSpPr>
        <p:spPr>
          <a:xfrm>
            <a:off x="7955280" y="3657600"/>
            <a:ext cx="3383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8B9D8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889</a:t>
            </a:r>
            <a:endParaRPr lang="en-US" sz="3400" dirty="0"/>
          </a:p>
        </p:txBody>
      </p:sp>
      <p:sp>
        <p:nvSpPr>
          <p:cNvPr id="10" name="Text 7"/>
          <p:cNvSpPr txBox="1"/>
          <p:nvPr/>
        </p:nvSpPr>
        <p:spPr>
          <a:xfrm>
            <a:off x="7955280" y="429768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8C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Sat–Sun transactions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7955280" y="4800600"/>
            <a:ext cx="3383280" cy="0"/>
          </a:xfrm>
          <a:prstGeom prst="line">
            <a:avLst/>
          </a:prstGeom>
          <a:noFill/>
          <a:ln w="12700">
            <a:solidFill>
              <a:srgbClr val="5A4636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7955280" y="4983480"/>
            <a:ext cx="3383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DE2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Tuesday is the single busiest day (572); Sunday the quietest (419). Average spend per transaction stays flat across every day (~$31.3–31.9) — this is a traffic story, not a spending one.</a:t>
            </a:r>
            <a:endParaRPr lang="en-US" sz="1150" dirty="0"/>
          </a:p>
        </p:txBody>
      </p:sp>
      <p:sp>
        <p:nvSpPr>
          <p:cNvPr id="13" name="Text 10"/>
          <p:cNvSpPr txBox="1"/>
          <p:nvPr/>
        </p:nvSpPr>
        <p:spPr>
          <a:xfrm>
            <a:off x="11155680" y="644652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A6A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10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EF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DAYPART SPLIT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9601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3A2A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Sales Are Spread Evenly Across the Day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3291840" cy="3108960"/>
          </a:xfrm>
          <a:prstGeom prst="roundRect">
            <a:avLst>
              <a:gd name="adj" fmla="val 3529"/>
            </a:avLst>
          </a:prstGeom>
          <a:solidFill>
            <a:srgbClr val="8B9D83"/>
          </a:solidFill>
          <a:ln/>
          <a:effectLst>
            <a:outerShdw sx="100000" sy="100000" kx="0" ky="0" algn="bl" rotWithShape="0" blurRad="101600" dist="38100" dir="5400000">
              <a:srgbClr val="000000">
                <a:alpha val="15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731520" y="224028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MORNING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2880360"/>
            <a:ext cx="2926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33.30%</a:t>
            </a:r>
            <a:endParaRPr lang="en-US" sz="40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388620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2E9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1,181 transactions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297680" y="1920240"/>
            <a:ext cx="3291840" cy="3108960"/>
          </a:xfrm>
          <a:prstGeom prst="roundRect">
            <a:avLst>
              <a:gd name="adj" fmla="val 3529"/>
            </a:avLst>
          </a:prstGeom>
          <a:solidFill>
            <a:srgbClr val="B85042"/>
          </a:solidFill>
          <a:ln/>
          <a:effectLst>
            <a:outerShdw sx="100000" sy="100000" kx="0" ky="0" algn="bl" rotWithShape="0" blurRad="101600" dist="38100" dir="5400000">
              <a:srgbClr val="000000">
                <a:alpha val="15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4480560" y="224028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AFTERNOON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4480560" y="2880360"/>
            <a:ext cx="2926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33.97%</a:t>
            </a:r>
            <a:endParaRPr lang="en-US" sz="4000" dirty="0"/>
          </a:p>
        </p:txBody>
      </p:sp>
      <p:sp>
        <p:nvSpPr>
          <p:cNvPr id="11" name="Text 9"/>
          <p:cNvSpPr txBox="1"/>
          <p:nvPr/>
        </p:nvSpPr>
        <p:spPr>
          <a:xfrm>
            <a:off x="4480560" y="388620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2E9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1,205 transactions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8046720" y="1920240"/>
            <a:ext cx="3291840" cy="3108960"/>
          </a:xfrm>
          <a:prstGeom prst="roundRect">
            <a:avLst>
              <a:gd name="adj" fmla="val 3529"/>
            </a:avLst>
          </a:prstGeom>
          <a:solidFill>
            <a:srgbClr val="2B1B12"/>
          </a:solidFill>
          <a:ln/>
          <a:effectLst>
            <a:outerShdw sx="100000" sy="100000" kx="0" ky="0" algn="bl" rotWithShape="0" blurRad="101600" dist="38100" dir="5400000">
              <a:srgbClr val="000000">
                <a:alpha val="15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8229600" y="224028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NIGHT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8229600" y="2880360"/>
            <a:ext cx="2926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32.73%</a:t>
            </a:r>
            <a:endParaRPr lang="en-US" sz="4000" dirty="0"/>
          </a:p>
        </p:txBody>
      </p:sp>
      <p:sp>
        <p:nvSpPr>
          <p:cNvPr id="15" name="Text 13"/>
          <p:cNvSpPr txBox="1"/>
          <p:nvPr/>
        </p:nvSpPr>
        <p:spPr>
          <a:xfrm>
            <a:off x="8229600" y="388620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2E9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1,161 transactions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548640" y="534924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A6A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a 3-point spread separates the busiest daypart from the quietest — this isn't a shop with one big morning rush. Roughly a third of all sales happen at night.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11155680" y="644652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A6A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10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EF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HOURLY DETAIL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9601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3A2A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Real Peaks: 10 AM and 4 PM</a:t>
            </a:r>
            <a:endParaRPr lang="en-US" sz="32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554480"/>
          <a:ext cx="11064240" cy="40233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 txBox="1"/>
          <p:nvPr/>
        </p:nvSpPr>
        <p:spPr>
          <a:xfrm>
            <a:off x="3246120" y="1627632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AM — 328 tx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6903720" y="214884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B9D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PM — 278 tx</a:t>
            </a:r>
            <a:endParaRPr lang="en-US" sz="12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580644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A6A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Morning rush peaks at 10am, and a second afternoon wave builds toward 4pm. Between the two, hourly volume stays consistently solid (~220–240/hr) rather than falling off — explaining why the daypart totals looked so even.</a:t>
            </a:r>
            <a:endParaRPr lang="en-US" sz="1300" dirty="0"/>
          </a:p>
        </p:txBody>
      </p:sp>
      <p:sp>
        <p:nvSpPr>
          <p:cNvPr id="8" name="Text 5"/>
          <p:cNvSpPr txBox="1"/>
          <p:nvPr/>
        </p:nvSpPr>
        <p:spPr>
          <a:xfrm>
            <a:off x="11155680" y="644652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A6A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10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2B1B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645920" y="-1645920"/>
            <a:ext cx="4114800" cy="4114800"/>
          </a:xfrm>
          <a:prstGeom prst="ellipse">
            <a:avLst/>
          </a:prstGeom>
          <a:ln w="25400">
            <a:solidFill>
              <a:srgbClr val="3D2A1D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822960" y="13716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D8A0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 METHOD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777240" y="1828800"/>
            <a:ext cx="8229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100% Card</a:t>
            </a:r>
            <a:endParaRPr lang="en-US" sz="68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3337560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D8C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one of the 3,547 transactions — across every coffee type — was paid by card. No cash payments were recorded in the full year of data.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420624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8B9D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shop is fully cashless — payment method offers no further segmentation angle in this dataset.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11155680" y="644652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9B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10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EF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SYNTHESIS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9601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3A2A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This Shop Runs on Weekday Habit, Not Weekend Leisure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965960"/>
            <a:ext cx="5349240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E7DFC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2221992"/>
            <a:ext cx="411480" cy="411480"/>
          </a:xfrm>
          <a:prstGeom prst="roundRect">
            <a:avLst>
              <a:gd name="adj" fmla="val 17778"/>
            </a:avLst>
          </a:prstGeom>
          <a:solidFill>
            <a:srgbClr val="B85042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77240" y="222199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1371600" y="2221992"/>
            <a:ext cx="4297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A2A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Commuter-driven traffic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2834640"/>
            <a:ext cx="48920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7A6A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3x more transactions on weekdays than weekends, with two daily peaks at 10am and 4pm — classic office/commuter behavior, not a leisure destination.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263640" y="1965960"/>
            <a:ext cx="5349240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E7DFC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492240" y="2221992"/>
            <a:ext cx="411480" cy="411480"/>
          </a:xfrm>
          <a:prstGeom prst="roundRect">
            <a:avLst>
              <a:gd name="adj" fmla="val 17778"/>
            </a:avLst>
          </a:prstGeom>
          <a:solidFill>
            <a:srgbClr val="B85042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492240" y="222199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7086600" y="2221992"/>
            <a:ext cx="4297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A2A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Revenue leaders ≠ volume leaders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6492240" y="2834640"/>
            <a:ext cx="48920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7A6A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Latte earns the most revenue; Americano with Milk sells the most cups. Espresso lags on both, at 2.4% of total revenue.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48640" y="4251960"/>
            <a:ext cx="5349240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E7DFC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77240" y="4507992"/>
            <a:ext cx="411480" cy="411480"/>
          </a:xfrm>
          <a:prstGeom prst="roundRect">
            <a:avLst>
              <a:gd name="adj" fmla="val 17778"/>
            </a:avLst>
          </a:prstGeom>
          <a:solidFill>
            <a:srgbClr val="B85042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777240" y="450799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1371600" y="4507992"/>
            <a:ext cx="4297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A2A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Spring is the seasonal high point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777240" y="5120640"/>
            <a:ext cx="48920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7A6A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March and February are the two busiest months of the year, with a sharp trough in April worth investigating further.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263640" y="4251960"/>
            <a:ext cx="5349240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E7DFC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492240" y="4507992"/>
            <a:ext cx="411480" cy="411480"/>
          </a:xfrm>
          <a:prstGeom prst="roundRect">
            <a:avLst>
              <a:gd name="adj" fmla="val 17778"/>
            </a:avLst>
          </a:prstGeom>
          <a:solidFill>
            <a:srgbClr val="B85042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492240" y="450799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7086600" y="4507992"/>
            <a:ext cx="4297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A2A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Spend per visit is remarkably stable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6492240" y="5120640"/>
            <a:ext cx="48920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7A6A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transaction value barely moves across days, dayparts, or seasons ($18.12–$38.70 range) — growth here is a traffic lever, not a pricing one.</a:t>
            </a:r>
            <a:endParaRPr lang="en-US" sz="1250" dirty="0"/>
          </a:p>
        </p:txBody>
      </p:sp>
      <p:sp>
        <p:nvSpPr>
          <p:cNvPr id="24" name="Text 22"/>
          <p:cNvSpPr txBox="1"/>
          <p:nvPr/>
        </p:nvSpPr>
        <p:spPr>
          <a:xfrm>
            <a:off x="11155680" y="644652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A6A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10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2B1B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2926080"/>
            <a:ext cx="5029200" cy="5029200"/>
          </a:xfrm>
          <a:prstGeom prst="ellipse">
            <a:avLst/>
          </a:prstGeom>
          <a:solidFill>
            <a:srgbClr val="3D2A1D"/>
          </a:solidFill>
          <a:ln/>
        </p:spPr>
      </p:sp>
      <p:sp>
        <p:nvSpPr>
          <p:cNvPr id="3" name="Shape 1"/>
          <p:cNvSpPr/>
          <p:nvPr/>
        </p:nvSpPr>
        <p:spPr>
          <a:xfrm>
            <a:off x="-1371600" y="-1737360"/>
            <a:ext cx="3291840" cy="3291840"/>
          </a:xfrm>
          <a:prstGeom prst="ellipse">
            <a:avLst/>
          </a:prstGeom>
          <a:ln w="19050">
            <a:solidFill>
              <a:srgbClr val="8B9D83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22960" y="274320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400" dirty="0"/>
          </a:p>
        </p:txBody>
      </p:sp>
      <p:sp>
        <p:nvSpPr>
          <p:cNvPr id="5" name="Text 3"/>
          <p:cNvSpPr txBox="1"/>
          <p:nvPr/>
        </p:nvSpPr>
        <p:spPr>
          <a:xfrm>
            <a:off x="868680" y="36118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D8A0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Discussion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868680" y="2514600"/>
            <a:ext cx="1280160" cy="0"/>
          </a:xfrm>
          <a:prstGeom prst="line">
            <a:avLst/>
          </a:prstGeom>
          <a:noFill/>
          <a:ln w="38100">
            <a:solidFill>
              <a:srgbClr val="B85042"/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2026-09-16T13:42:34Z</dcterms:created>
  <dcterms:modified xsi:type="dcterms:W3CDTF">2026-09-16T13:42:34Z</dcterms:modified>
</cp:coreProperties>
</file>